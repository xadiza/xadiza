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5" r:id="rId9"/>
    <p:sldMasterId id="2147483667" r:id="rId10"/>
    <p:sldMasterId id="2147483669" r:id="rId11"/>
    <p:sldMasterId id="2147483671" r:id="rId12"/>
    <p:sldMasterId id="2147483673" r:id="rId13"/>
    <p:sldMasterId id="2147483675" r:id="rId14"/>
    <p:sldMasterId id="2147483677" r:id="rId15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876202-A28F-4CDC-8201-FE7888F420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3FEAA1-BF42-42E2-A43E-79A50B0B3F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57F7470-3DB6-40F7-A76F-0B8D8D6277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E4FFA30-D50A-400E-BBB2-55A12BCB3C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402B067-956A-4D24-8384-91D7BD1AAD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77EA1D7-528D-454C-842E-F901112332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A00A57F-B59A-4F27-A0B0-51912CD3DE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A134259-CB27-4F1E-8E61-AC98820A14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C607083-EC2C-4B88-8716-F3435D46FE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A8A99DD-2DD2-43D2-A401-4EE51673F2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7FA327B-00FE-48C0-9CD4-1967FCFFC5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117841A-3B4F-4764-AA0E-1C788732F7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4783DA4-37E8-424A-A56C-314A6CC490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BA13C69-19D2-4A34-B865-B2E2E7017A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C3F7DAD2-0131-4D4C-B0C7-D5AB95440E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B3A76F9-1CD1-4C92-AB1B-EE10971C2C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4940B962-C806-4B5D-9DC6-ADC3835083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4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5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9BD1EB-65BB-4D7A-9CD6-A1D761B8F65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D26C48-2AEB-4D63-A21D-2DD2E27154F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5B09F4-B797-4D93-8B2D-B2EA6349234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AB77A6-A889-4131-BF8E-B01DBA2D9B9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7DC194-AEBB-47E9-8FE8-D16E06A02F2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5F416D-9F4C-424D-A5D7-1A1A632A956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9E1B2B-E574-45E0-9FFC-91BCC1ED4D8F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0D14AC-4F68-4D5D-B4CE-27CF424E921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81FBCE-6DA4-4DC5-8A68-C66C4DE892B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D95897-13FE-4D81-8D2C-9F1E27F650B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E180AB-C134-49BB-A2B3-329B05A729B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D4CD5D-0488-43B7-AC8E-DB53823DB89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630696-359C-4B3F-98EF-2F5DF7A47C3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AB38F8-3CB2-4E0A-9B50-9BEFFCDFD9D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sk.rt.ru/checkup" TargetMode="External"/><Relationship Id="rId2" Type="http://schemas.openxmlformats.org/officeDocument/2006/relationships/hyperlink" Target="https://msk.rt.ru/checkup" TargetMode="External"/><Relationship Id="rId3" Type="http://schemas.openxmlformats.org/officeDocument/2006/relationships/hyperlink" Target="https://msk.rt.ru/checkup" TargetMode="External"/><Relationship Id="rId4" Type="http://schemas.openxmlformats.org/officeDocument/2006/relationships/hyperlink" Target="https://msk.rt.ru/checkup" TargetMode="External"/><Relationship Id="rId5" Type="http://schemas.openxmlformats.org/officeDocument/2006/relationships/hyperlink" Target="https://msk.rt.ru/checkup" TargetMode="External"/><Relationship Id="rId6" Type="http://schemas.openxmlformats.org/officeDocument/2006/relationships/hyperlink" Target="https://msk.rt.ru/checkup" TargetMode="External"/><Relationship Id="rId7" Type="http://schemas.openxmlformats.org/officeDocument/2006/relationships/hyperlink" Target="https://msk.rt.ru/checkup" TargetMode="External"/><Relationship Id="rId8" Type="http://schemas.openxmlformats.org/officeDocument/2006/relationships/hyperlink" Target="https://msk.rt.ru/checkup" TargetMode="External"/><Relationship Id="rId9" Type="http://schemas.openxmlformats.org/officeDocument/2006/relationships/hyperlink" Target="https://msk.rt.ru/checkup" TargetMode="External"/><Relationship Id="rId10" Type="http://schemas.openxmlformats.org/officeDocument/2006/relationships/hyperlink" Target="https://msk.rt.ru/checkup" TargetMode="External"/><Relationship Id="rId11" Type="http://schemas.openxmlformats.org/officeDocument/2006/relationships/hyperlink" Target="https://msk.rt.ru/checkup" TargetMode="External"/><Relationship Id="rId12" Type="http://schemas.openxmlformats.org/officeDocument/2006/relationships/hyperlink" Target="https://msk.rt.ru/checkup" TargetMode="External"/><Relationship Id="rId13" Type="http://schemas.openxmlformats.org/officeDocument/2006/relationships/hyperlink" Target="https://msk.rt.ru/checkup" TargetMode="External"/><Relationship Id="rId14" Type="http://schemas.openxmlformats.org/officeDocument/2006/relationships/hyperlink" Target="https://msk.rt.ru/checkup" TargetMode="External"/><Relationship Id="rId15" Type="http://schemas.openxmlformats.org/officeDocument/2006/relationships/hyperlink" Target="https://msk.rt.ru/checkup" TargetMode="External"/><Relationship Id="rId16" Type="http://schemas.openxmlformats.org/officeDocument/2006/relationships/hyperlink" Target="https://msk.rt.ru/checkup" TargetMode="External"/><Relationship Id="rId17" Type="http://schemas.openxmlformats.org/officeDocument/2006/relationships/hyperlink" Target="https://msk.rt.ru/checkup" TargetMode="External"/><Relationship Id="rId18" Type="http://schemas.openxmlformats.org/officeDocument/2006/relationships/hyperlink" Target="https://msk.rt.ru/checkup" TargetMode="External"/><Relationship Id="rId19" Type="http://schemas.openxmlformats.org/officeDocument/2006/relationships/hyperlink" Target="https://msk.rt.ru/checkup" TargetMode="External"/><Relationship Id="rId20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Сеть</a:t>
            </a:r>
            <a:r>
              <a:rPr b="0" lang="en-US" sz="6000" strike="noStrike" u="none">
                <a:solidFill>
                  <a:schemeClr val="dk1"/>
                </a:solidFill>
                <a:uFillTx/>
                <a:latin typeface="Calibri Light"/>
              </a:rPr>
              <a:t>. </a:t>
            </a: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Интернет</a:t>
            </a:r>
            <a:endParaRPr b="0" lang="ru-RU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90560" y="-792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Цифровая грамотность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0" y="1298520"/>
            <a:ext cx="12191400" cy="55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До распространения Интернета во главе угла стояла компьютерная грамотность – понимание того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как решать задачи с помощью компьютера (умение пользоваться компьютером):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пользующиеся мышью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м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огут испытывать проблемы с сенсорным экраном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 наоборот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привыкшие к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windows,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могут испытывать проблемы при переходе на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unix/linux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Цифровая грамотность – умение оптимально использовать всемирную паутину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искать достоверную информацию в сети и ответственно ее использовать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(умение искать данные и ориентироваться в них)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использование (доступной информации много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 не все данные важны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точны или актуальны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Способность анализировать информацию (отделить факты от домыслов) – крайне важный компьютерный навык)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распространение Вами данных (выражение своих мыслей по некоторой теме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вопросу и публикация их в соцсетях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18560" y="4176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Интернет не равно Всемирная паутина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8" name="Объект 4" descr=""/>
          <p:cNvPicPr/>
          <p:nvPr/>
        </p:nvPicPr>
        <p:blipFill>
          <a:blip r:embed="rId1"/>
          <a:stretch/>
        </p:blipFill>
        <p:spPr>
          <a:xfrm>
            <a:off x="2156400" y="1827000"/>
            <a:ext cx="4350600" cy="435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5"/>
          <p:cNvSpPr/>
          <p:nvPr/>
        </p:nvSpPr>
        <p:spPr>
          <a:xfrm>
            <a:off x="61560" y="1960200"/>
            <a:ext cx="19753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Обычный (поверхностный) 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61560" y="4084200"/>
            <a:ext cx="205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Глубокий 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61560" y="5350320"/>
            <a:ext cx="131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Даркнет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TextBox 19"/>
          <p:cNvSpPr/>
          <p:nvPr/>
        </p:nvSpPr>
        <p:spPr>
          <a:xfrm>
            <a:off x="6507720" y="5160600"/>
            <a:ext cx="55033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Наиболее закрытая часть глобальной сети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построенная поверх обычного Интернет в целях анонимности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Для доступа нужны специальные браузеры-программы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(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TOR -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сокращенно от англ. 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The Onion Router, Freenet, I2P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 и пр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.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)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.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Box 20"/>
          <p:cNvSpPr/>
          <p:nvPr/>
        </p:nvSpPr>
        <p:spPr>
          <a:xfrm>
            <a:off x="6626520" y="987840"/>
            <a:ext cx="556488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Открытая мировая коммуникационная инфраструктура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остоящая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оптоволокно (земляные или подводные работы)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радиоволны (сотовая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мобильная связь (формат 3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G,4G,5G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),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wi-fi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п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ередаваемый по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оздуху с помощью спутника (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SpaceX,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МТС к 2030 году планирует прямое соединение спутника и смартфона)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но надо платить за связь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aara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Google: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если прокладка оптоволокна нерентабельна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а за спутниковую связь не платят клиенты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то лазерные лучи (в Дронах для получения канала)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Пропускная способность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460520"/>
            <a:ext cx="10514880" cy="539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Важно не путать пропускную способность со скоростью интернета: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Скорость интернета — реальная передача данных, которую вы получаете в конкретный момент</a:t>
            </a:r>
            <a:r>
              <a:rPr b="0" lang="en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Она всегда ниже пропускной способности из-за помех, расстояния, загруженности сети и других факторов.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Чем меньше пропускная способность,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тем медленнее сеть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Оцените скорость Интернета на своем ПК - </a:t>
            </a:r>
            <a:r>
              <a:rPr b="0" lang="en" sz="2800" strike="noStrike" u="none">
                <a:solidFill>
                  <a:srgbClr val="0563c1"/>
                </a:solidFill>
                <a:uFillTx/>
                <a:latin typeface="Arial"/>
                <a:hlinkClick r:id="rId1"/>
              </a:rPr>
              <a:t>https://msk.rt.ru › checkup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2"/>
              </a:rPr>
              <a:t> (сфотографируй значение скорости)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3"/>
              </a:rPr>
              <a:t>(Спроси у Квена: файл размером 1 Гб </a:t>
            </a:r>
            <a:r>
              <a:rPr b="0" lang="ru-RU" sz="2800" strike="noStrike" u="sng">
                <a:solidFill>
                  <a:srgbClr val="0563c1"/>
                </a:solidFill>
                <a:uFillTx/>
                <a:latin typeface="Arial"/>
                <a:hlinkClick r:id="rId4"/>
              </a:rPr>
              <a:t>будет скачиваться за какое время на скорости &lt;введи свое значение</a:t>
            </a:r>
            <a:r>
              <a:rPr b="0" lang="en-US" sz="2800" strike="noStrike" u="sng">
                <a:solidFill>
                  <a:srgbClr val="0563c1"/>
                </a:solidFill>
                <a:uFillTx/>
                <a:latin typeface="Arial"/>
                <a:hlinkClick r:id="rId5"/>
              </a:rPr>
              <a:t>&gt;?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6"/>
              </a:rPr>
              <a:t>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7"/>
              </a:rPr>
              <a:t>(У смартфона нет провода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8"/>
              </a:rPr>
              <a:t>,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9"/>
              </a:rPr>
              <a:t>как в классе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0"/>
              </a:rPr>
              <a:t>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1"/>
              </a:rPr>
              <a:t>у компьютеров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2"/>
              </a:rPr>
              <a:t>.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3"/>
              </a:rPr>
              <a:t> Спроси у квена про пропускную способность мобильной связи формата 3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4"/>
              </a:rPr>
              <a:t>G,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5"/>
              </a:rPr>
              <a:t> 4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6"/>
              </a:rPr>
              <a:t>G,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7"/>
              </a:rPr>
              <a:t> 5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8"/>
              </a:rPr>
              <a:t>G.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9"/>
              </a:rPr>
              <a:t>Сфоткай скорости разных форматов)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Облако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66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Стив Джобс (1955-2011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Apple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Мне не нужен жесткий диск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если быстрее подключиться к серверу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Давайте сравним скорости записи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- Как узнать реальную скорость чтения/записи диска? Выполни инструкцию квена и сфотографируй значение величины скорости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Можем ли мы согласиться с утверждением Джобса?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Стриминг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Рид Хастингс (род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1960,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Netflix): 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следующие 10 лет прирост [клиентов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]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идти за счет стриминга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История стриминга началась в 1910 году: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Джордж Оуэн Сквайр в 1910 г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Изобрел способ передавать музыку по проводам (потом продавал музыку для лифтов за месячную плату)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Стриминг позволяет смотреть передачи в прямом эфире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Недостатки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быстрый и стабильный интернет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может стоить дорого из-за потребления сетевого трафика (это не пропускная способность! Спроси у квена про сетевой трафик – что это?)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0" y="1444680"/>
            <a:ext cx="12191400" cy="54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Узел сети – это любое устройство,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посылающее или принимающее данные через сеть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сигнал идет от узла к узлу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пока не достигнет цели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передающем узле данные ОБЯЗАТЕЛЬНО разбиваются на пакеты в связи с требованиями канала связи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БЫСТРО передать данные и потом БЫСТРО проверить на ошибки (для медных проводов – до 1500 байт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оптоволокно – до 9000 байт)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ВСЕ пакеты одного соединения двигались по одному маршруту (иначе,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неправильный порядок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п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акетов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что вызовет повторные передачи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 значит более низкую скорость)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 в смартфон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карта сама может ли передавать и принимать данные по сети? Если 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 что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карте нужно для работы в интернет?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(ответ сфотографировать)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Как узнать адрес Вашего узла в сети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как узнать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-адрес моего смартфона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Интернет ? 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поликлинике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ip-а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дреса узлам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сети выдает администратор 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(адрес принтера и др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.)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к квена как узнать свой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адрес на машине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ыполни инструкции и сфоткай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6" name="Рисунок 3" descr=""/>
          <p:cNvPicPr/>
          <p:nvPr/>
        </p:nvPicPr>
        <p:blipFill>
          <a:blip r:embed="rId1"/>
          <a:stretch/>
        </p:blipFill>
        <p:spPr>
          <a:xfrm>
            <a:off x="6198840" y="1687680"/>
            <a:ext cx="5992560" cy="503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Пошли сообщение по сети соседу</a:t>
            </a: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Разбиваемся на группы по две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1-2, 3-4, 5-6, …, 21-22, 23-24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-25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как послать сообщение по сети на соседнюю машину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соседу сообщение Привет с машины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&lt;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Номер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&gt;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сообщение сам себе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широковещательное сообщение по сети класса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10500</TotalTime>
  <Application>LibreOffice/24.8.4.2$Linux_X86_64 LibreOffice_project/480$Build-2</Application>
  <AppVersion>15.0000</AppVersion>
  <Words>902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2025-10-26T17:58:23Z</dcterms:created>
  <dc:creator>Елена Демидова</dc:creator>
  <dc:description/>
  <dc:language>ru-RU</dc:language>
  <cp:lastModifiedBy/>
  <dcterms:modified xsi:type="dcterms:W3CDTF">2025-11-08T12:46:29Z</dcterms:modified>
  <cp:revision>62</cp:revision>
  <dc:subject/>
  <dc:title>Сеть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